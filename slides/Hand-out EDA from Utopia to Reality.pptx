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Spectral ExtraLight"/>
      <p:regular r:id="rId22"/>
      <p:bold r:id="rId23"/>
      <p:italic r:id="rId24"/>
      <p:boldItalic r:id="rId25"/>
    </p:embeddedFont>
    <p:embeddedFont>
      <p:font typeface="Cinzel Decorative"/>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SpectralExtraLight-regular.fntdata"/><Relationship Id="rId21" Type="http://schemas.openxmlformats.org/officeDocument/2006/relationships/slide" Target="slides/slide16.xml"/><Relationship Id="rId24" Type="http://schemas.openxmlformats.org/officeDocument/2006/relationships/font" Target="fonts/SpectralExtraLight-italic.fntdata"/><Relationship Id="rId23" Type="http://schemas.openxmlformats.org/officeDocument/2006/relationships/font" Target="fonts/SpectralExtra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inzelDecorative-regular.fntdata"/><Relationship Id="rId25" Type="http://schemas.openxmlformats.org/officeDocument/2006/relationships/font" Target="fonts/SpectralExtraLight-boldItalic.fntdata"/><Relationship Id="rId27" Type="http://schemas.openxmlformats.org/officeDocument/2006/relationships/font" Target="fonts/CinzelDecorative-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eea7b0b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eea7b0b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3f7e1d4e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3f7e1d4e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3eea7b0b2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3eea7b0b2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3eea7b0b2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3eea7b0b2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f7e1d4e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f7e1d4e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f7e1d4e5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f7e1d4e5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f7e1d4e5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f7e1d4e5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f7e1d4e5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f7e1d4e5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3f7e1d4e5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3f7e1d4e5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eea7b0b26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3eea7b0b2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f7e1d4e5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f7e1d4e5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3f7e1d4e5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3f7e1d4e5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fb34d85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fb34d85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3fb34d85d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3fb34d85d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fb34d85d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fb34d85d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enterpriseintegrationpatterns.com/patterns/messaging/StoreInLibrary.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37709" l="0" r="0" t="6041"/>
          <a:stretch/>
        </p:blipFill>
        <p:spPr>
          <a:xfrm>
            <a:off x="0" y="0"/>
            <a:ext cx="9144000" cy="5143501"/>
          </a:xfrm>
          <a:prstGeom prst="rect">
            <a:avLst/>
          </a:prstGeom>
          <a:noFill/>
          <a:ln>
            <a:noFill/>
          </a:ln>
        </p:spPr>
      </p:pic>
      <p:sp>
        <p:nvSpPr>
          <p:cNvPr id="55" name="Google Shape;55;p13"/>
          <p:cNvSpPr/>
          <p:nvPr/>
        </p:nvSpPr>
        <p:spPr>
          <a:xfrm rot="2700075">
            <a:off x="1828519" y="-1586817"/>
            <a:ext cx="9732406" cy="4535383"/>
          </a:xfrm>
          <a:prstGeom prst="rect">
            <a:avLst/>
          </a:prstGeom>
          <a:solidFill>
            <a:srgbClr val="000000">
              <a:alpha val="72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ph type="ctrTitle"/>
          </p:nvPr>
        </p:nvSpPr>
        <p:spPr>
          <a:xfrm>
            <a:off x="-228600" y="0"/>
            <a:ext cx="9144000" cy="1625100"/>
          </a:xfrm>
          <a:prstGeom prst="rect">
            <a:avLst/>
          </a:prstGeom>
          <a:ln>
            <a:noFill/>
          </a:ln>
          <a:effectLst>
            <a:outerShdw blurRad="57150" rotWithShape="0" algn="bl" dir="5400000" dist="19050">
              <a:srgbClr val="FF9900"/>
            </a:outerShdw>
          </a:effectLst>
        </p:spPr>
        <p:txBody>
          <a:bodyPr anchorCtr="0" anchor="b" bIns="91425" lIns="91425" spcFirstLastPara="1" rIns="91425" wrap="square" tIns="91425">
            <a:normAutofit fontScale="90000"/>
          </a:bodyPr>
          <a:lstStyle/>
          <a:p>
            <a:pPr indent="0" lvl="0" marL="0" rtl="0" algn="r">
              <a:spcBef>
                <a:spcPts val="0"/>
              </a:spcBef>
              <a:spcAft>
                <a:spcPts val="0"/>
              </a:spcAft>
              <a:buNone/>
            </a:pPr>
            <a:r>
              <a:rPr lang="nl">
                <a:solidFill>
                  <a:schemeClr val="lt1"/>
                </a:solidFill>
                <a:latin typeface="Cinzel Decorative"/>
                <a:ea typeface="Cinzel Decorative"/>
                <a:cs typeface="Cinzel Decorative"/>
                <a:sym typeface="Cinzel Decorative"/>
              </a:rPr>
              <a:t>From Utopia </a:t>
            </a:r>
            <a:endParaRPr>
              <a:solidFill>
                <a:schemeClr val="lt1"/>
              </a:solidFill>
              <a:latin typeface="Cinzel Decorative"/>
              <a:ea typeface="Cinzel Decorative"/>
              <a:cs typeface="Cinzel Decorative"/>
              <a:sym typeface="Cinzel Decorative"/>
            </a:endParaRPr>
          </a:p>
          <a:p>
            <a:pPr indent="0" lvl="0" marL="0" rtl="0" algn="r">
              <a:spcBef>
                <a:spcPts val="0"/>
              </a:spcBef>
              <a:spcAft>
                <a:spcPts val="0"/>
              </a:spcAft>
              <a:buNone/>
            </a:pPr>
            <a:r>
              <a:rPr lang="nl">
                <a:solidFill>
                  <a:schemeClr val="lt1"/>
                </a:solidFill>
                <a:latin typeface="Cinzel Decorative"/>
                <a:ea typeface="Cinzel Decorative"/>
                <a:cs typeface="Cinzel Decorative"/>
                <a:sym typeface="Cinzel Decorative"/>
              </a:rPr>
              <a:t>To Reality</a:t>
            </a:r>
            <a:endParaRPr>
              <a:solidFill>
                <a:schemeClr val="lt1"/>
              </a:solidFill>
              <a:latin typeface="Cinzel Decorative"/>
              <a:ea typeface="Cinzel Decorative"/>
              <a:cs typeface="Cinzel Decorative"/>
              <a:sym typeface="Cinzel Decorative"/>
            </a:endParaRPr>
          </a:p>
        </p:txBody>
      </p:sp>
      <p:sp>
        <p:nvSpPr>
          <p:cNvPr id="57" name="Google Shape;57;p13"/>
          <p:cNvSpPr txBox="1"/>
          <p:nvPr>
            <p:ph idx="1" type="subTitle"/>
          </p:nvPr>
        </p:nvSpPr>
        <p:spPr>
          <a:xfrm>
            <a:off x="2249000" y="1453575"/>
            <a:ext cx="9144000" cy="792600"/>
          </a:xfrm>
          <a:prstGeom prst="rect">
            <a:avLst/>
          </a:prstGeom>
          <a:effectLst>
            <a:outerShdw blurRad="57150" rotWithShape="0" algn="bl" dir="5400000" dist="19050">
              <a:schemeClr val="accent4">
                <a:alpha val="50000"/>
              </a:schemeClr>
            </a:outerShdw>
          </a:effectLst>
        </p:spPr>
        <p:txBody>
          <a:bodyPr anchorCtr="0" anchor="t" bIns="91425" lIns="91425" spcFirstLastPara="1" rIns="91425" wrap="square" tIns="91425">
            <a:normAutofit/>
          </a:bodyPr>
          <a:lstStyle/>
          <a:p>
            <a:pPr indent="0" lvl="0" marL="0" rtl="0" algn="ctr">
              <a:spcBef>
                <a:spcPts val="0"/>
              </a:spcBef>
              <a:spcAft>
                <a:spcPts val="0"/>
              </a:spcAft>
              <a:buNone/>
            </a:pPr>
            <a:r>
              <a:rPr lang="nl" sz="2300">
                <a:solidFill>
                  <a:schemeClr val="lt1"/>
                </a:solidFill>
                <a:latin typeface="Spectral ExtraLight"/>
                <a:ea typeface="Spectral ExtraLight"/>
                <a:cs typeface="Spectral ExtraLight"/>
                <a:sym typeface="Spectral ExtraLight"/>
              </a:rPr>
              <a:t>The hidden challenges of E.D.A.</a:t>
            </a:r>
            <a:endParaRPr sz="2300">
              <a:solidFill>
                <a:schemeClr val="lt1"/>
              </a:solidFill>
              <a:latin typeface="Spectral ExtraLight"/>
              <a:ea typeface="Spectral ExtraLight"/>
              <a:cs typeface="Spectral ExtraLight"/>
              <a:sym typeface="Spectral ExtraLight"/>
            </a:endParaRPr>
          </a:p>
        </p:txBody>
      </p:sp>
      <p:sp>
        <p:nvSpPr>
          <p:cNvPr id="58" name="Google Shape;58;p13"/>
          <p:cNvSpPr txBox="1"/>
          <p:nvPr/>
        </p:nvSpPr>
        <p:spPr>
          <a:xfrm>
            <a:off x="6711200" y="3244250"/>
            <a:ext cx="2382300" cy="392400"/>
          </a:xfrm>
          <a:prstGeom prst="rect">
            <a:avLst/>
          </a:prstGeom>
          <a:noFill/>
          <a:ln>
            <a:noFill/>
          </a:ln>
          <a:effectLst>
            <a:outerShdw blurRad="57150" rotWithShape="0" algn="bl" dir="5400000" dist="19050">
              <a:srgbClr val="CC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nl" sz="1800">
                <a:solidFill>
                  <a:schemeClr val="lt1"/>
                </a:solidFill>
                <a:latin typeface="Cinzel Decorative"/>
                <a:ea typeface="Cinzel Decorative"/>
                <a:cs typeface="Cinzel Decorative"/>
                <a:sym typeface="Cinzel Decorative"/>
              </a:rPr>
              <a:t>Ruben Scheedler</a:t>
            </a:r>
            <a:endParaRPr sz="1800">
              <a:solidFill>
                <a:schemeClr val="lt1"/>
              </a:solidFill>
              <a:latin typeface="Cinzel Decorative"/>
              <a:ea typeface="Cinzel Decorative"/>
              <a:cs typeface="Cinzel Decorative"/>
              <a:sym typeface="Cinzel Decorative"/>
            </a:endParaRPr>
          </a:p>
        </p:txBody>
      </p:sp>
      <p:sp>
        <p:nvSpPr>
          <p:cNvPr id="59" name="Google Shape;59;p13"/>
          <p:cNvSpPr txBox="1"/>
          <p:nvPr/>
        </p:nvSpPr>
        <p:spPr>
          <a:xfrm>
            <a:off x="5773725" y="2075350"/>
            <a:ext cx="2892600" cy="792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nl" sz="3600">
                <a:solidFill>
                  <a:schemeClr val="lt1"/>
                </a:solidFill>
                <a:latin typeface="Cinzel Decorative"/>
                <a:ea typeface="Cinzel Decorative"/>
                <a:cs typeface="Cinzel Decorative"/>
                <a:sym typeface="Cinzel Decorative"/>
              </a:rPr>
              <a:t>hand-out</a:t>
            </a:r>
            <a:endParaRPr sz="3600">
              <a:solidFill>
                <a:schemeClr val="lt1"/>
              </a:solidFill>
              <a:latin typeface="Cinzel Decorative"/>
              <a:ea typeface="Cinzel Decorative"/>
              <a:cs typeface="Cinzel Decorative"/>
              <a:sym typeface="Cinzel Decorativ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nl"/>
              <a:t>The technical landscape</a:t>
            </a:r>
            <a:endParaRPr/>
          </a:p>
        </p:txBody>
      </p:sp>
      <p:sp>
        <p:nvSpPr>
          <p:cNvPr id="65" name="Google Shape;65;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nl"/>
              <a:t>The garden of E.D.A. (event-driven architecture)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5"/>
          <p:cNvPicPr preferRelativeResize="0"/>
          <p:nvPr/>
        </p:nvPicPr>
        <p:blipFill>
          <a:blip r:embed="rId3">
            <a:alphaModFix/>
          </a:blip>
          <a:stretch>
            <a:fillRect/>
          </a:stretch>
        </p:blipFill>
        <p:spPr>
          <a:xfrm>
            <a:off x="654050" y="152400"/>
            <a:ext cx="7835900" cy="4838700"/>
          </a:xfrm>
          <a:prstGeom prst="rect">
            <a:avLst/>
          </a:prstGeom>
          <a:noFill/>
          <a:ln>
            <a:noFill/>
          </a:ln>
        </p:spPr>
      </p:pic>
      <p:pic>
        <p:nvPicPr>
          <p:cNvPr id="71" name="Google Shape;71;p15"/>
          <p:cNvPicPr preferRelativeResize="0"/>
          <p:nvPr/>
        </p:nvPicPr>
        <p:blipFill>
          <a:blip r:embed="rId4">
            <a:alphaModFix/>
          </a:blip>
          <a:stretch>
            <a:fillRect/>
          </a:stretch>
        </p:blipFill>
        <p:spPr>
          <a:xfrm>
            <a:off x="7264423" y="362850"/>
            <a:ext cx="1178199" cy="1178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What makes this landscape so awesome?</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b="1" lang="nl"/>
              <a:t>Cloud: </a:t>
            </a:r>
            <a:r>
              <a:rPr lang="nl"/>
              <a:t>not bounded by on-prem limitations. Great for scaling, but also for availability. </a:t>
            </a:r>
            <a:endParaRPr/>
          </a:p>
          <a:p>
            <a:pPr indent="-342900" lvl="0" marL="457200" rtl="0" algn="l">
              <a:spcBef>
                <a:spcPts val="0"/>
              </a:spcBef>
              <a:spcAft>
                <a:spcPts val="0"/>
              </a:spcAft>
              <a:buSzPts val="1800"/>
              <a:buAutoNum type="arabicPeriod"/>
            </a:pPr>
            <a:r>
              <a:rPr b="1" lang="nl"/>
              <a:t>Microservices:</a:t>
            </a:r>
            <a:r>
              <a:rPr lang="nl"/>
              <a:t> Scalable, isolated failures (in theory at least), independent development process per team, encapsulation of data and behavior. Clear boundaries and good compartmentalization.</a:t>
            </a:r>
            <a:endParaRPr/>
          </a:p>
          <a:p>
            <a:pPr indent="-342900" lvl="0" marL="457200" rtl="0" algn="l">
              <a:spcBef>
                <a:spcPts val="0"/>
              </a:spcBef>
              <a:spcAft>
                <a:spcPts val="0"/>
              </a:spcAft>
              <a:buSzPts val="1800"/>
              <a:buAutoNum type="arabicPeriod"/>
            </a:pPr>
            <a:r>
              <a:rPr b="1" lang="nl"/>
              <a:t>Cosmos NoSQL:</a:t>
            </a:r>
            <a:r>
              <a:rPr lang="nl"/>
              <a:t> More scalability! We accept eventual consistency and in return we can create partitions and be highly available.</a:t>
            </a:r>
            <a:endParaRPr/>
          </a:p>
          <a:p>
            <a:pPr indent="-342900" lvl="0" marL="457200" rtl="0" algn="l">
              <a:spcBef>
                <a:spcPts val="0"/>
              </a:spcBef>
              <a:spcAft>
                <a:spcPts val="0"/>
              </a:spcAft>
              <a:buSzPts val="1800"/>
              <a:buAutoNum type="arabicPeriod"/>
            </a:pPr>
            <a:r>
              <a:rPr b="1" lang="nl"/>
              <a:t>Event-Driven Architecture:</a:t>
            </a:r>
            <a:r>
              <a:rPr lang="nl"/>
              <a:t> Communication via messages using a message bus decouples producers from consumers (no cascading failures), allows for work to be divided over multiple instances and makes sure actions (messages) are never lost.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nl"/>
              <a:t>Dealing with out of order messages</a:t>
            </a:r>
            <a:endParaRPr/>
          </a:p>
        </p:txBody>
      </p:sp>
      <p:sp>
        <p:nvSpPr>
          <p:cNvPr id="83" name="Google Shape;83;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nl"/>
              <a:t>(Time travellers)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Strategy 1: Retry</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Retrying means sending the message to the back of the queue again, from which it will be picked up when the rest of the queue is processed and when a consumer is available.</a:t>
            </a:r>
            <a:endParaRPr/>
          </a:p>
          <a:p>
            <a:pPr indent="-342900" lvl="0" marL="457200" rtl="0" algn="l">
              <a:spcBef>
                <a:spcPts val="0"/>
              </a:spcBef>
              <a:spcAft>
                <a:spcPts val="0"/>
              </a:spcAft>
              <a:buSzPts val="1800"/>
              <a:buChar char="-"/>
            </a:pPr>
            <a:r>
              <a:rPr lang="nl"/>
              <a:t>It is a good option when you are dealing with:</a:t>
            </a:r>
            <a:endParaRPr/>
          </a:p>
          <a:p>
            <a:pPr indent="-317500" lvl="1" marL="1371600" rtl="0" algn="l">
              <a:spcBef>
                <a:spcPts val="0"/>
              </a:spcBef>
              <a:spcAft>
                <a:spcPts val="0"/>
              </a:spcAft>
              <a:buSzPts val="1400"/>
              <a:buChar char="-"/>
            </a:pPr>
            <a:r>
              <a:rPr lang="nl"/>
              <a:t>Technical issues temporary in nature (503 of a service, network </a:t>
            </a:r>
            <a:r>
              <a:rPr lang="nl"/>
              <a:t>hiccup</a:t>
            </a:r>
            <a:r>
              <a:rPr lang="nl"/>
              <a:t>, etc)</a:t>
            </a:r>
            <a:endParaRPr/>
          </a:p>
          <a:p>
            <a:pPr indent="-317500" lvl="1" marL="1371600" rtl="0" algn="l">
              <a:spcBef>
                <a:spcPts val="0"/>
              </a:spcBef>
              <a:spcAft>
                <a:spcPts val="0"/>
              </a:spcAft>
              <a:buSzPts val="1400"/>
              <a:buChar char="-"/>
            </a:pPr>
            <a:r>
              <a:rPr lang="nl" u="sng"/>
              <a:t>race conditions</a:t>
            </a:r>
            <a:r>
              <a:rPr b="1" lang="nl" u="sng"/>
              <a:t>: </a:t>
            </a:r>
            <a:r>
              <a:rPr lang="nl"/>
              <a:t>if a message is processed too early, you can leverage retrying to wait for the other message(s)</a:t>
            </a:r>
            <a:endParaRPr/>
          </a:p>
          <a:p>
            <a:pPr indent="0" lvl="0" marL="91440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Strategy 2: Logging an exception</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Note: by this I mean logging the exception and considering the message as handled. </a:t>
            </a:r>
            <a:endParaRPr/>
          </a:p>
          <a:p>
            <a:pPr indent="-342900" lvl="0" marL="457200" rtl="0" algn="l">
              <a:spcBef>
                <a:spcPts val="0"/>
              </a:spcBef>
              <a:spcAft>
                <a:spcPts val="0"/>
              </a:spcAft>
              <a:buSzPts val="1800"/>
              <a:buChar char="-"/>
            </a:pPr>
            <a:r>
              <a:rPr lang="nl"/>
              <a:t>Use this strategy when you would typically throw an exception: when you can’t handle the message like you want to.</a:t>
            </a:r>
            <a:endParaRPr/>
          </a:p>
          <a:p>
            <a:pPr indent="-342900" lvl="0" marL="457200" rtl="0" algn="l">
              <a:spcBef>
                <a:spcPts val="0"/>
              </a:spcBef>
              <a:spcAft>
                <a:spcPts val="0"/>
              </a:spcAft>
              <a:buSzPts val="1800"/>
              <a:buChar char="-"/>
            </a:pPr>
            <a:r>
              <a:rPr lang="nl"/>
              <a:t>It is a viable option if retrying (now or far in the future) is not an option or pointless.</a:t>
            </a:r>
            <a:endParaRPr/>
          </a:p>
          <a:p>
            <a:pPr indent="-342900" lvl="0" marL="457200" rtl="0" algn="l">
              <a:spcBef>
                <a:spcPts val="0"/>
              </a:spcBef>
              <a:spcAft>
                <a:spcPts val="0"/>
              </a:spcAft>
              <a:buSzPts val="1800"/>
              <a:buChar char="-"/>
            </a:pPr>
            <a:r>
              <a:rPr lang="nl"/>
              <a:t>To decide between ignoring the message and logging an exception answer the question: do I want to be notified as maintainer of the system or would that just be noise to be ignored?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Strategy 3: Ignoring the message</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Similar to strategy two: used when you cannot handle the message like you want to, bút you do not really care. You are happy with the state of the system as it is and consider the message as processed without doing anything.</a:t>
            </a:r>
            <a:endParaRPr/>
          </a:p>
          <a:p>
            <a:pPr indent="-342900" lvl="0" marL="457200" rtl="0" algn="l">
              <a:spcBef>
                <a:spcPts val="0"/>
              </a:spcBef>
              <a:spcAft>
                <a:spcPts val="0"/>
              </a:spcAft>
              <a:buSzPts val="1800"/>
              <a:buChar char="-"/>
            </a:pPr>
            <a:r>
              <a:rPr lang="nl"/>
              <a:t>A second situation where this strategy might apply is for example when processing telemetry data. Especially for very high volumes you could ignore the message to not put extra strain of the system in the form of retries. In return, you might have slightly less accuracy in metrics due to a sample being lost, but this might be perfectly acceptable.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Strategy 4: Handling the message anyway, somehow</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Applies to a situation that would typically yield an exception in a traditional system, but with some creativity you can work around it. </a:t>
            </a:r>
            <a:endParaRPr/>
          </a:p>
          <a:p>
            <a:pPr indent="-342900" lvl="0" marL="457200" rtl="0" algn="l">
              <a:spcBef>
                <a:spcPts val="0"/>
              </a:spcBef>
              <a:spcAft>
                <a:spcPts val="0"/>
              </a:spcAft>
              <a:buSzPts val="1800"/>
              <a:buChar char="-"/>
            </a:pPr>
            <a:r>
              <a:rPr lang="nl"/>
              <a:t>The example in the my presentation was to create a reservation while a table to it, even though the reservation should technically exist. </a:t>
            </a:r>
            <a:endParaRPr/>
          </a:p>
          <a:p>
            <a:pPr indent="-342900" lvl="0" marL="457200" rtl="0" algn="l">
              <a:spcBef>
                <a:spcPts val="0"/>
              </a:spcBef>
              <a:spcAft>
                <a:spcPts val="0"/>
              </a:spcAft>
              <a:buSzPts val="1800"/>
              <a:buChar char="-"/>
            </a:pPr>
            <a:r>
              <a:rPr lang="nl"/>
              <a:t>This strategy can conflict with domain logic so requires careful trade-offs.</a:t>
            </a:r>
            <a:endParaRPr/>
          </a:p>
          <a:p>
            <a:pPr indent="-342900" lvl="0" marL="457200" rtl="0" algn="l">
              <a:spcBef>
                <a:spcPts val="0"/>
              </a:spcBef>
              <a:spcAft>
                <a:spcPts val="0"/>
              </a:spcAft>
              <a:buSzPts val="1800"/>
              <a:buChar char="-"/>
            </a:pPr>
            <a:r>
              <a:rPr lang="nl"/>
              <a:t>Can be useful when performance is paramount and you cannot afford the strain on the system of retrying messages.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Strategy 5: Move the message to a dead letter queue</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A dead letter queue (DLQ) is a special queue where unprocessable messages can be sent to. </a:t>
            </a:r>
            <a:endParaRPr/>
          </a:p>
          <a:p>
            <a:pPr indent="-342900" lvl="0" marL="457200" rtl="0" algn="l">
              <a:spcBef>
                <a:spcPts val="0"/>
              </a:spcBef>
              <a:spcAft>
                <a:spcPts val="0"/>
              </a:spcAft>
              <a:buSzPts val="1800"/>
              <a:buChar char="-"/>
            </a:pPr>
            <a:r>
              <a:rPr lang="nl"/>
              <a:t>This strategy is related to retrying the messages, but allows you to:</a:t>
            </a:r>
            <a:endParaRPr/>
          </a:p>
          <a:p>
            <a:pPr indent="-317500" lvl="1" marL="914400" rtl="0" algn="l">
              <a:spcBef>
                <a:spcPts val="0"/>
              </a:spcBef>
              <a:spcAft>
                <a:spcPts val="0"/>
              </a:spcAft>
              <a:buSzPts val="1400"/>
              <a:buChar char="-"/>
            </a:pPr>
            <a:r>
              <a:rPr lang="nl"/>
              <a:t>Investigate the message manually</a:t>
            </a:r>
            <a:endParaRPr/>
          </a:p>
          <a:p>
            <a:pPr indent="-317500" lvl="1" marL="914400" rtl="0" algn="l">
              <a:spcBef>
                <a:spcPts val="0"/>
              </a:spcBef>
              <a:spcAft>
                <a:spcPts val="0"/>
              </a:spcAft>
              <a:buSzPts val="1400"/>
              <a:buChar char="-"/>
            </a:pPr>
            <a:r>
              <a:rPr lang="nl"/>
              <a:t>Retry the message when you think the time is right. Maybe after rolling out a hotfix or when you know another message has been processed on which this one is dependent.</a:t>
            </a:r>
            <a:endParaRPr/>
          </a:p>
          <a:p>
            <a:pPr indent="-342900" lvl="0" marL="457200" rtl="0" algn="l">
              <a:spcBef>
                <a:spcPts val="0"/>
              </a:spcBef>
              <a:spcAft>
                <a:spcPts val="0"/>
              </a:spcAft>
              <a:buSzPts val="1800"/>
              <a:buChar char="-"/>
            </a:pPr>
            <a:r>
              <a:rPr lang="nl"/>
              <a:t>Note that there might be a retention time configured on the DLQ so you could still lose the message.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nl"/>
              <a:t>Dealing with large messages</a:t>
            </a:r>
            <a:endParaRPr/>
          </a:p>
        </p:txBody>
      </p:sp>
      <p:sp>
        <p:nvSpPr>
          <p:cNvPr id="119" name="Google Shape;119;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nl"/>
              <a:t>(Giants)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nl" sz="2420"/>
              <a:t>Three remedies that fix many problems w.r.t. large messages</a:t>
            </a:r>
            <a:endParaRPr sz="2420"/>
          </a:p>
        </p:txBody>
      </p:sp>
      <p:sp>
        <p:nvSpPr>
          <p:cNvPr id="125" name="Google Shape;125;p24"/>
          <p:cNvSpPr txBox="1"/>
          <p:nvPr>
            <p:ph idx="1" type="body"/>
          </p:nvPr>
        </p:nvSpPr>
        <p:spPr>
          <a:xfrm>
            <a:off x="311700" y="1358350"/>
            <a:ext cx="8520600" cy="3210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b="1" lang="nl"/>
              <a:t>Configuration</a:t>
            </a:r>
            <a:endParaRPr b="1"/>
          </a:p>
          <a:p>
            <a:pPr indent="-342900" lvl="0" marL="457200" rtl="0" algn="l">
              <a:spcBef>
                <a:spcPts val="0"/>
              </a:spcBef>
              <a:spcAft>
                <a:spcPts val="0"/>
              </a:spcAft>
              <a:buSzPts val="1800"/>
              <a:buAutoNum type="arabicPeriod"/>
            </a:pPr>
            <a:r>
              <a:rPr b="1" lang="nl"/>
              <a:t>Claim-Check Pattern</a:t>
            </a:r>
            <a:endParaRPr b="1"/>
          </a:p>
          <a:p>
            <a:pPr indent="-342900" lvl="0" marL="457200" rtl="0" algn="l">
              <a:spcBef>
                <a:spcPts val="0"/>
              </a:spcBef>
              <a:spcAft>
                <a:spcPts val="0"/>
              </a:spcAft>
              <a:buSzPts val="1800"/>
              <a:buAutoNum type="arabicPeriod"/>
            </a:pPr>
            <a:r>
              <a:rPr b="1" lang="nl"/>
              <a:t>Concurrency Control</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Configuration</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Check the size limits of messages of your messaging bus</a:t>
            </a:r>
            <a:endParaRPr/>
          </a:p>
          <a:p>
            <a:pPr indent="-342900" lvl="0" marL="457200" rtl="0" algn="l">
              <a:spcBef>
                <a:spcPts val="0"/>
              </a:spcBef>
              <a:spcAft>
                <a:spcPts val="0"/>
              </a:spcAft>
              <a:buSzPts val="1800"/>
              <a:buChar char="-"/>
            </a:pPr>
            <a:r>
              <a:rPr lang="nl"/>
              <a:t>Specifically for Azure: beware their are different tiers with different limits</a:t>
            </a:r>
            <a:endParaRPr/>
          </a:p>
          <a:p>
            <a:pPr indent="-342900" lvl="0" marL="457200" rtl="0" algn="l">
              <a:spcBef>
                <a:spcPts val="0"/>
              </a:spcBef>
              <a:spcAft>
                <a:spcPts val="0"/>
              </a:spcAft>
              <a:buSzPts val="1800"/>
              <a:buChar char="-"/>
            </a:pPr>
            <a:r>
              <a:rPr lang="nl"/>
              <a:t>If you are saving messages in the database (for outbox, event sourcing, etc) check the </a:t>
            </a:r>
            <a:r>
              <a:rPr lang="nl"/>
              <a:t>limits of your database.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Do not send the entire message: claim-check pattern</a:t>
            </a:r>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sz="1100" u="sng">
                <a:solidFill>
                  <a:schemeClr val="hlink"/>
                </a:solidFill>
                <a:hlinkClick r:id="rId3"/>
              </a:rPr>
              <a:t>Claim Check - Enterprise Integration Patterns</a:t>
            </a:r>
            <a:endParaRPr/>
          </a:p>
          <a:p>
            <a:pPr indent="-342900" lvl="0" marL="457200" rtl="0" algn="l">
              <a:spcBef>
                <a:spcPts val="0"/>
              </a:spcBef>
              <a:spcAft>
                <a:spcPts val="0"/>
              </a:spcAft>
              <a:buSzPts val="1800"/>
              <a:buChar char="-"/>
            </a:pPr>
            <a:r>
              <a:rPr lang="nl"/>
              <a:t>Save a part of the message in a data store </a:t>
            </a:r>
            <a:r>
              <a:rPr lang="nl"/>
              <a:t>accessible</a:t>
            </a:r>
            <a:r>
              <a:rPr lang="nl"/>
              <a:t> by the producer and the consumer. Store it before sending and retrieve it when handling it in the consumer.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Concurrency</a:t>
            </a:r>
            <a:endParaRPr/>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Leveraging your scalable event-driven system requires you to split up your large message into smaller units of work. </a:t>
            </a:r>
            <a:endParaRPr/>
          </a:p>
          <a:p>
            <a:pPr indent="-342900" lvl="0" marL="457200" rtl="0" algn="l">
              <a:spcBef>
                <a:spcPts val="0"/>
              </a:spcBef>
              <a:spcAft>
                <a:spcPts val="0"/>
              </a:spcAft>
              <a:buSzPts val="1800"/>
              <a:buChar char="-"/>
            </a:pPr>
            <a:r>
              <a:rPr lang="nl"/>
              <a:t>The consequence of doing so is that a lot of messages, that are typically related as well, are processed at the same time.</a:t>
            </a:r>
            <a:endParaRPr/>
          </a:p>
          <a:p>
            <a:pPr indent="-342900" lvl="0" marL="457200" rtl="0" algn="l">
              <a:spcBef>
                <a:spcPts val="0"/>
              </a:spcBef>
              <a:spcAft>
                <a:spcPts val="0"/>
              </a:spcAft>
              <a:buSzPts val="1800"/>
              <a:buChar char="-"/>
            </a:pPr>
            <a:r>
              <a:rPr lang="nl"/>
              <a:t>The risk of race conditions increases with that so take this into consideration when writing the processing of the smaller units of work.</a:t>
            </a:r>
            <a:endParaRPr/>
          </a:p>
          <a:p>
            <a:pPr indent="-342900" lvl="0" marL="457200" rtl="0" algn="l">
              <a:spcBef>
                <a:spcPts val="0"/>
              </a:spcBef>
              <a:spcAft>
                <a:spcPts val="0"/>
              </a:spcAft>
              <a:buSzPts val="1800"/>
              <a:buChar char="-"/>
            </a:pPr>
            <a:r>
              <a:rPr lang="nl"/>
              <a:t>Reduce shared resources (bottleneck) during processing of units of work.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EDA: A powerful dragon, but hard to tame</a:t>
            </a:r>
            <a:endParaRPr/>
          </a:p>
        </p:txBody>
      </p:sp>
      <p:sp>
        <p:nvSpPr>
          <p:cNvPr id="149" name="Google Shape;14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EDA is a powerful enabler for scalable, available and resilient systems</a:t>
            </a:r>
            <a:endParaRPr/>
          </a:p>
          <a:p>
            <a:pPr indent="-342900" lvl="0" marL="457200" rtl="0" algn="l">
              <a:spcBef>
                <a:spcPts val="0"/>
              </a:spcBef>
              <a:spcAft>
                <a:spcPts val="0"/>
              </a:spcAft>
              <a:buSzPts val="1800"/>
              <a:buChar char="-"/>
            </a:pPr>
            <a:r>
              <a:rPr lang="nl"/>
              <a:t>Bút, it comes with tough challenges that you might have never encountered in more traditional systems</a:t>
            </a:r>
            <a:endParaRPr/>
          </a:p>
          <a:p>
            <a:pPr indent="-342900" lvl="0" marL="457200" rtl="0" algn="l">
              <a:spcBef>
                <a:spcPts val="0"/>
              </a:spcBef>
              <a:spcAft>
                <a:spcPts val="0"/>
              </a:spcAft>
              <a:buSzPts val="1800"/>
              <a:buChar char="-"/>
            </a:pPr>
            <a:r>
              <a:rPr lang="nl"/>
              <a:t>In you decide to adopt EDA be prepared! And do not assume it will be a walk in the park.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